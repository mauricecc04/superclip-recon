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this is a lightweight auxiliary-supervision project built on a COCO-scale SuperCLIP-style baseline, not a captioning model.
Safe claim: the method integrates cleanly and preserves retrieval while adding little runtime overhead.
Do not overclaim: do not say it solves binding, strongly improves retrieval, or reproduces full original-scale SuperCLIP.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CLIP gives a global matching signal, and SuperCLIP adds useful word-level supervision, but a token-presence target does not explicitly say which words belong together.
Safe claim: the reconstruction loss is motivated by a known bag-of-words weakness in vision-language models.
Do not overclaim: do not say token classification is useless; it is the baseline we preserve.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our baseline is inspired by SuperCLIP but does not reproduce the full original setup.
Safe claim: the course-scale baseline uses CLIP contrastive loss plus token classification on COCO with a top-1000 vocabulary.
Do not overclaim: do not compare our absolute numbers directly against the SuperCLIP paper because scale, vocabulary, setup, and data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the baseline still trains with contrastive retrieval and token classification; the only new piece is a lightweight reconstruction branch.
Safe claim: the head predicts selected masked caption tokens from image features alone using a small non-autoregressive head.
Do not overclaim: this is not caption generation and does not use text context to reconstruct a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the main empirical claim is about ReconA, because it has the matched-seed retrieval and probe evidence.
Safe claim: ReconB is an exploratory phrase-style variant that points toward future work.
Do not overclaim: do not treat ReconB as evidence for phrase-level binding improvement because it has only a narrow retrieval follow-up and no ARO/Winoground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retrieval is the main benchmark because the model is still trained to align images and captions; ARO and Winoground are added because the hypothesis is about compositional structure.
Safe claim: retrieval tests compatibility with CLIP-style alignment, while probes are more targeted diagnostics for binding.
Do not overclaim: high retrieval alone does not prove compositional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the main retrieval result is small, paired, and uncertain. The mean is positive, but the confidence interval crosses zero and the result depends strongly on seed 105.
Safe claim: ReconA is retrieval-compatible and promising enough to investigate further.
Do not overclaim: do not say the retrieval improvement is statistically established or robust.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the compositional probes are aligned with the motivation, but their results are directionally mixed.
Safe claim: several small positive shifts appear, but ARO Relation regresses and Winoground evidence is limited to three paired seeds.
Do not overclaim: do not conclude that semantic binding improved.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the method is genuinely lightweight in this setup, but the ablations are diagnostic rather than definitive.
Safe claim: the measured runtime overhead is about 0.9%, and no heavy decoder/backbone/data changes were added.
Do not overclaim: do not say the lambda or mask-rate sweeps establish an optimal hyperparameter, and do not claim Variant B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this is the calibrated final claim. The project is strong because it demonstrates a realistic, low-cost extension and evaluates it honestly.
Safe claim: masked caption-token reconstruction is feasible and retrieval-compatible at low runtime overhead.
Do not overclaim: do not present the small, seed-sensitive gains as statistically established or as evidence that compositionality is 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audience should understand: this is a backup slide for detailed Q&amp;A, not the core story.
Safe claim: the ledger records the exact values used in the presentation.
Do not overclaim: the dense evidence still supports a mixed, promising-but-inconclusive conclusion rather than a decisive improvement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</a:rPr>
              <a:t>COURSE PROJECT  ·  COMPUTER VISION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SuperCLIP-Recon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lightweight auxiliary loss for testing masked caption-token reconstruction beyond SuperCLIP-style token classification.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94944" y="239572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</a:rPr>
              <a:t>Cameron Caputa  ·  Gianni Wu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</a:rPr>
              <a:t>Bocconi University  ·  May 2026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396849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5F3ED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4023360"/>
            <a:ext cx="8046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4187952"/>
            <a:ext cx="43891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3968496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4023360"/>
            <a:ext cx="103327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ViT-B/32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4187952"/>
            <a:ext cx="45720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396849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4023360"/>
            <a:ext cx="130759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loss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anchor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3968496"/>
            <a:ext cx="1508760" cy="438912"/>
          </a:xfrm>
          <a:prstGeom prst="roundRect">
            <a:avLst>
              <a:gd name="adj" fmla="val 12500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4023360"/>
            <a:ext cx="13990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Token-cls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SuperCLIP-style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0" y="396849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4023360"/>
            <a:ext cx="130759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 head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signal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4187952"/>
            <a:ext cx="32004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4187952"/>
            <a:ext cx="2148840" cy="0"/>
          </a:xfrm>
          <a:prstGeom prst="line">
            <a:avLst/>
          </a:prstGeom>
          <a:noFill/>
          <a:ln w="19050">
            <a:solidFill>
              <a:srgbClr val="1D8A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" y="484632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47488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5A44"/>
                </a:solidFill>
              </a:rPr>
              <a:t>Result: cheap and retrieval-compatible; retrieval gain is small and unstable; compositional evidence is mixed.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534009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Not a caption-generation project · Not a claim that binding is solved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989320"/>
            <a:ext cx="3291840" cy="256032"/>
          </a:xfrm>
          <a:prstGeom prst="roundRect">
            <a:avLst>
              <a:gd name="adj" fmla="val 25000"/>
            </a:avLst>
          </a:prstGeom>
          <a:solidFill>
            <a:srgbClr val="FAF0E8"/>
          </a:solidFill>
          <a:ln w="9525">
            <a:solidFill>
              <a:srgbClr val="B85A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6039612"/>
            <a:ext cx="3163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CAUTION: COURSE-SCALE, DATA-DRIVEN CLAIMS ONLY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presence is not enough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 = knowing not only which words appear, but which objects, attributes, actions, and relations belong together.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29384"/>
            <a:ext cx="185623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image-text alignment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24912" y="2313432"/>
            <a:ext cx="5852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187452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929384"/>
            <a:ext cx="197510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SuperCLIP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token 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68112" y="2313432"/>
            <a:ext cx="5852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187452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929384"/>
            <a:ext cx="24048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gap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Bag-of-words-like token presence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641080" y="2313432"/>
            <a:ext cx="576072" cy="0"/>
          </a:xfrm>
          <a:prstGeom prst="line">
            <a:avLst/>
          </a:prstGeom>
          <a:noFill/>
          <a:ln w="16510">
            <a:solidFill>
              <a:srgbClr val="1D8A6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35440" y="187452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0304" y="1929384"/>
            <a:ext cx="208483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 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image features carry more?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10561320" cy="0"/>
          </a:xfrm>
          <a:prstGeom prst="line">
            <a:avLst/>
          </a:prstGeom>
          <a:noFill/>
          <a:ln w="10160">
            <a:solidFill>
              <a:srgbClr val="B8B4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65760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51560" y="4133088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dog chasing a red ball”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78992" y="4645152"/>
            <a:ext cx="4434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Tokens: dog · chasing · red · ball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Binding: dog → chasing → ball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365760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37960" y="4133088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red ball near a dog”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4645152"/>
            <a:ext cx="4434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Tokens: dog · red · ball · 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Binding: ball ↔ near ↔ dog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5650992"/>
            <a:ext cx="7269480" cy="41148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15184" y="5760720"/>
            <a:ext cx="6995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Overlapping token sets, different visual meanings. Reconstruction tests extra pressure beyond word presence.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/ SCOPE GUARD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“SuperCLIP-style” means here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comparison fair: paper baseline, course implementation, and new extension are separate.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53619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733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B85A2C"/>
                </a:solidFill>
              </a:rPr>
              <a:t>Scope guard: COCO-scale SuperCLIP-style baseline, not full original-scale SuperCLIP reproduction.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18211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 ANCHOR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86968" y="2816352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SuperCLIP paper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8408" y="3438144"/>
            <a:ext cx="26060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contrastive loss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supervision from caption tokens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image-side classification head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broad gains in the paper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187952" y="2331720"/>
            <a:ext cx="3182112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COURSE-SCALE ANCHOR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89120" y="2816352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COCO-scale baseline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480560" y="3438144"/>
            <a:ext cx="26060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COCO-scale CLIP ViT-B/32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retrieval loss remains active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token-classification head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top-1000 COCO-derived token vocabulary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699248" y="2331720"/>
            <a:ext cx="3182112" cy="2606040"/>
          </a:xfrm>
          <a:prstGeom prst="roundRect">
            <a:avLst>
              <a:gd name="adj" fmla="val 2105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0416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TEST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900416" y="2816352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reconstruction extension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991856" y="3438144"/>
            <a:ext cx="26060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masked-token reconstruction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A: masked token prediction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B: phrase-style reconstruction</a:t>
            </a:r>
            <a:endParaRPr lang="en-US" sz="930" dirty="0"/>
          </a:p>
          <a:p>
            <a:r>
              <a:rPr lang="en-US" sz="93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pressure beyond token presence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1508760" y="5376672"/>
            <a:ext cx="9144000" cy="566928"/>
          </a:xfrm>
          <a:prstGeom prst="roundRect">
            <a:avLst>
              <a:gd name="adj" fmla="val 9677"/>
            </a:avLst>
          </a:prstGeom>
          <a:solidFill>
            <a:srgbClr val="F3F0E8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5559552"/>
            <a:ext cx="8778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directly comparable? Scale, vocabulary, setup, and dataset differ from the paper.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added head, one added loss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extension is designed to be lightweight and minimally disruptive.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962656"/>
            <a:ext cx="640080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73552" y="2962656"/>
            <a:ext cx="612648" cy="-877824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73552" y="2962656"/>
            <a:ext cx="612648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73552" y="2962656"/>
            <a:ext cx="612648" cy="877824"/>
          </a:xfrm>
          <a:prstGeom prst="line">
            <a:avLst/>
          </a:prstGeom>
          <a:noFill/>
          <a:ln w="16510">
            <a:solidFill>
              <a:srgbClr val="1D8A6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2679192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5F3ED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734056"/>
            <a:ext cx="60350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93392" y="260604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660904"/>
            <a:ext cx="117043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ViT-B/32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encoder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1719072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1773936"/>
            <a:ext cx="21762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image with caption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L_CLIP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886200" y="2615184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9E7E2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41064" y="2670048"/>
            <a:ext cx="21762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words present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L_tok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886200" y="3511296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3566160"/>
            <a:ext cx="217627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hidden words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L_recon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160520" y="4389120"/>
            <a:ext cx="2057400" cy="256032"/>
          </a:xfrm>
          <a:prstGeom prst="roundRect">
            <a:avLst>
              <a:gd name="adj" fmla="val 25000"/>
            </a:avLst>
          </a:prstGeom>
          <a:solidFill>
            <a:srgbClr val="EEF5F1"/>
          </a:solidFill>
          <a:ln w="9525">
            <a:solidFill>
              <a:srgbClr val="1D8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4439412"/>
            <a:ext cx="1929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THIRD BRANCH IS NEW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29400" y="182880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121408"/>
            <a:ext cx="4480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L_total = L_CLIP + L_tok + λ_recon · L_recon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629400" y="3127248"/>
            <a:ext cx="2286000" cy="1920240"/>
          </a:xfrm>
          <a:prstGeom prst="roundRect">
            <a:avLst>
              <a:gd name="adj" fmla="val 2857"/>
            </a:avLst>
          </a:prstGeom>
          <a:solidFill>
            <a:srgbClr val="F3F0E8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STAYS UNCHANGED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03720" y="3675888"/>
            <a:ext cx="171907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image/text encoders</a:t>
            </a:r>
            <a:endParaRPr lang="en-US" sz="850" dirty="0"/>
          </a:p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contrastive retrieval objective</a:t>
            </a:r>
            <a:endParaRPr lang="en-US" sz="850" dirty="0"/>
          </a:p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token-classification baseline</a:t>
            </a:r>
            <a:endParaRPr lang="en-US" sz="850" dirty="0"/>
          </a:p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 Captions training data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35440" y="3127248"/>
            <a:ext cx="2286000" cy="1920240"/>
          </a:xfrm>
          <a:prstGeom prst="roundRect">
            <a:avLst>
              <a:gd name="adj" fmla="val 2857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ADDED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509760" y="3675888"/>
            <a:ext cx="17190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2-layer MLP reconstruction head</a:t>
            </a:r>
            <a:endParaRPr lang="en-US" sz="850" dirty="0"/>
          </a:p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slots</a:t>
            </a:r>
            <a:endParaRPr lang="en-US" sz="850" dirty="0"/>
          </a:p>
          <a:p>
            <a:r>
              <a:rPr lang="en-US" sz="8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features alone predict masked tokens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03720" y="5349240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decoder · no autoregression · no new backbone · no extra dataset · no text context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92440" y="5833872"/>
            <a:ext cx="2103120" cy="256032"/>
          </a:xfrm>
          <a:prstGeom prst="roundRect">
            <a:avLst>
              <a:gd name="adj" fmla="val 25000"/>
            </a:avLst>
          </a:prstGeom>
          <a:solidFill>
            <a:srgbClr val="FAF0E8"/>
          </a:solidFill>
          <a:ln w="9525">
            <a:solidFill>
              <a:srgbClr val="B85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5884164"/>
            <a:ext cx="1975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CAPTION GENERATOR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 &amp; SETUP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A is the main result; Variant B is exploratory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hierarchy is explicit by design.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9164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01952"/>
            <a:ext cx="2743200" cy="256032"/>
          </a:xfrm>
          <a:prstGeom prst="roundRect">
            <a:avLst>
              <a:gd name="adj" fmla="val 25000"/>
            </a:avLst>
          </a:prstGeom>
          <a:solidFill>
            <a:srgbClr val="1D8A6A"/>
          </a:solidFill>
          <a:ln w="9525">
            <a:solidFill>
              <a:srgbClr val="1D8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52244"/>
            <a:ext cx="2615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A / ReconA — MAIN RESULT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4617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Masked caption-token reconstruction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2816352"/>
            <a:ext cx="4526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masks 15% of content tokens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token IDs from image features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setting: λ_recon = 1.0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5 matched seeds + retrieval + probes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1206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1901952"/>
            <a:ext cx="2834640" cy="256032"/>
          </a:xfrm>
          <a:prstGeom prst="roundRect">
            <a:avLst>
              <a:gd name="adj" fmla="val 25000"/>
            </a:avLst>
          </a:prstGeom>
          <a:solidFill>
            <a:srgbClr val="FAF0E8"/>
          </a:solidFill>
          <a:ln w="9525">
            <a:solidFill>
              <a:srgbClr val="B8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95224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B / ReconB — EXPLORATORY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01968" y="2286000"/>
            <a:ext cx="4526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Phrase-style reconstruction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93408" y="2816352"/>
            <a:ext cx="4343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phrase-style or phrase-like reconstruction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conceptually closer to binding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much weaker</a:t>
            </a:r>
            <a:endParaRPr lang="en-US" sz="1000" dirty="0"/>
          </a:p>
          <a:p>
            <a:r>
              <a:rPr lang="en-US" sz="10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seed, retrieval only; future-facing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4956048"/>
            <a:ext cx="10131552" cy="932688"/>
          </a:xfrm>
          <a:prstGeom prst="roundRect">
            <a:avLst>
              <a:gd name="adj" fmla="val 5882"/>
            </a:avLst>
          </a:prstGeom>
          <a:solidFill>
            <a:srgbClr val="F3F0E8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5157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SETUP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61872" y="5468112"/>
            <a:ext cx="9656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MS-COCO Captions · COCO validation retrieval, 5,000 images × 5 captions · CLIP ViT-B/32 · 10 epochs · batch size 128 · AdamW lr 1e-5 · AMP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is the health check; probes test the motivation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defines the metrics so the results are interpretable.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64208"/>
            <a:ext cx="5074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 RETRIEVAL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44348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4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Image→Text: given an image, rank candidate captions.</a:t>
            </a:r>
            <a:endParaRPr lang="en-US" sz="940" dirty="0"/>
          </a:p>
          <a:p>
            <a:r>
              <a:rPr lang="en-US" sz="94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Text→Image: given a caption, rank candidate images.</a:t>
            </a:r>
            <a:endParaRPr lang="en-US" sz="940" dirty="0"/>
          </a:p>
          <a:p>
            <a:r>
              <a:rPr lang="en-US" sz="94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Recall@K: success if a correct match appears in the top K.</a:t>
            </a:r>
            <a:endParaRPr lang="en-US" sz="940" dirty="0"/>
          </a:p>
          <a:p>
            <a:r>
              <a:rPr lang="en-US" sz="94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R-sum: I→T R@1/5/10 + T→I R@1/5/10.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400800" y="1664208"/>
            <a:ext cx="5074920" cy="2011680"/>
          </a:xfrm>
          <a:prstGeom prst="roundRect">
            <a:avLst>
              <a:gd name="adj" fmla="val 2727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1874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RETRIEVAL IS PRIMARY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75120" y="2249424"/>
            <a:ext cx="45262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CLIP-style models are trained for image-text alignment, so retrieval directly tests whether the embedding space still matches images and captions.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720840" y="3026664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75704" y="3081528"/>
            <a:ext cx="7589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626096" y="3218688"/>
            <a:ext cx="603504" cy="0"/>
          </a:xfrm>
          <a:prstGeom prst="line">
            <a:avLst/>
          </a:prstGeom>
          <a:noFill/>
          <a:ln w="16510">
            <a:solidFill>
              <a:srgbClr val="1D8A6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3026664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3081528"/>
            <a:ext cx="10332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list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738360" y="3026664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8255">
            <a:solidFill>
              <a:srgbClr val="B8B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3081528"/>
            <a:ext cx="8503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716768" y="3218688"/>
            <a:ext cx="484632" cy="0"/>
          </a:xfrm>
          <a:prstGeom prst="line">
            <a:avLst/>
          </a:prstGeom>
          <a:noFill/>
          <a:ln w="16510">
            <a:solidFill>
              <a:srgbClr val="1D8A6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201400" y="3026664"/>
            <a:ext cx="137160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825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187952"/>
            <a:ext cx="10762488" cy="1335024"/>
          </a:xfrm>
          <a:prstGeom prst="roundRect">
            <a:avLst>
              <a:gd name="adj" fmla="val 4110"/>
            </a:avLst>
          </a:prstGeom>
          <a:solidFill>
            <a:srgbClr val="F3F0E8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89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COMPOSITIONAL DIAGNOSTICS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60120" y="4754880"/>
            <a:ext cx="4892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 Attribution: checks whether attributes attach to the right objects, e.g. “red ball” vs “red dog.”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5047488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 Relation: checks object relationships, e.g. “dog chasing ball” vs “ball chasing dog.”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4754880"/>
            <a:ext cx="50749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Winoground Text: image chooses correct caption.  Image: caption chooses correct image.  Group: both checks must be correct.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5833872"/>
            <a:ext cx="6510528" cy="256032"/>
          </a:xfrm>
          <a:prstGeom prst="roundRect">
            <a:avLst>
              <a:gd name="adj" fmla="val 25000"/>
            </a:avLst>
          </a:prstGeom>
          <a:solidFill>
            <a:srgbClr val="FAF0E8"/>
          </a:solidFill>
          <a:ln w="9525">
            <a:solidFill>
              <a:srgbClr val="B85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5884164"/>
            <a:ext cx="6382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 and Winoground are supporting diagnostics, not the primary benchmark.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to add; retrieval preserved; improvement uncertain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headline gain is positive on average, but too small and seed-sensitive to overclaim.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91640"/>
            <a:ext cx="0" cy="621792"/>
          </a:xfrm>
          <a:prstGeom prst="line">
            <a:avLst/>
          </a:prstGeom>
          <a:noFill/>
          <a:ln w="38100">
            <a:solidFill>
              <a:srgbClr val="1D8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45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445.817 → 446.134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R-sum, baseline to ReconA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0" cy="621792"/>
          </a:xfrm>
          <a:prstGeom prst="line">
            <a:avLst/>
          </a:prstGeom>
          <a:noFill/>
          <a:ln w="38100">
            <a:solidFill>
              <a:srgbClr val="1D8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645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 = +0.317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462272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+0.317 R-sum ≈ +0.053 per recall metric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2360" y="1691640"/>
            <a:ext cx="0" cy="621792"/>
          </a:xfrm>
          <a:prstGeom prst="line">
            <a:avLst/>
          </a:prstGeom>
          <a:noFill/>
          <a:ln w="38100">
            <a:solidFill>
              <a:srgbClr val="1D8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1645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571232" y="20574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seeds improve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281160" y="1691640"/>
            <a:ext cx="0" cy="621792"/>
          </a:xfrm>
          <a:prstGeom prst="line">
            <a:avLst/>
          </a:prstGeom>
          <a:noFill/>
          <a:ln w="38100">
            <a:solidFill>
              <a:srgbClr val="B85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1645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85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crosses 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400032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CI [−0.534, +1.167]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2834640"/>
            <a:ext cx="55778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035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SENSITIVITY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5840" y="3364992"/>
            <a:ext cx="4983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Matched-seed deltas (ReconA − baseline): positive on 3/5 seeds.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1078992" y="36758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s101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64208" y="3666744"/>
            <a:ext cx="420624" cy="13716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6350">
            <a:solidFill>
              <a:srgbClr val="1D8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928" y="3689604"/>
            <a:ext cx="3291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F5A44"/>
                </a:solidFill>
              </a:rPr>
              <a:t>up</a:t>
            </a:r>
            <a:endParaRPr lang="en-US" sz="520" dirty="0"/>
          </a:p>
        </p:txBody>
      </p:sp>
      <p:sp>
        <p:nvSpPr>
          <p:cNvPr id="24" name="Text 22"/>
          <p:cNvSpPr/>
          <p:nvPr/>
        </p:nvSpPr>
        <p:spPr>
          <a:xfrm>
            <a:off x="2212848" y="367588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</a:rPr>
              <a:t>+0.096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78992" y="39136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s102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64208" y="3904488"/>
            <a:ext cx="420624" cy="137160"/>
          </a:xfrm>
          <a:prstGeom prst="roundRect">
            <a:avLst>
              <a:gd name="adj" fmla="val 13333"/>
            </a:avLst>
          </a:prstGeom>
          <a:solidFill>
            <a:srgbClr val="FAF0E8"/>
          </a:solidFill>
          <a:ln w="6350">
            <a:solidFill>
              <a:srgbClr val="B85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09928" y="3927348"/>
            <a:ext cx="3291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B85A2C"/>
                </a:solidFill>
              </a:rPr>
              <a:t>down</a:t>
            </a:r>
            <a:endParaRPr lang="en-US" sz="520" dirty="0"/>
          </a:p>
        </p:txBody>
      </p:sp>
      <p:sp>
        <p:nvSpPr>
          <p:cNvPr id="28" name="Text 26"/>
          <p:cNvSpPr/>
          <p:nvPr/>
        </p:nvSpPr>
        <p:spPr>
          <a:xfrm>
            <a:off x="2212848" y="39136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A2C"/>
                </a:solidFill>
              </a:rPr>
              <a:t>−0.232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78992" y="415137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s103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664208" y="4142232"/>
            <a:ext cx="420624" cy="13716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6350">
            <a:solidFill>
              <a:srgbClr val="1D8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09928" y="4165092"/>
            <a:ext cx="3291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F5A44"/>
                </a:solidFill>
              </a:rPr>
              <a:t>up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2212848" y="415137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</a:rPr>
              <a:t>+0.380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8992" y="43891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s104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664208" y="4379976"/>
            <a:ext cx="420624" cy="137160"/>
          </a:xfrm>
          <a:prstGeom prst="roundRect">
            <a:avLst>
              <a:gd name="adj" fmla="val 13333"/>
            </a:avLst>
          </a:prstGeom>
          <a:solidFill>
            <a:srgbClr val="FAF0E8"/>
          </a:solidFill>
          <a:ln w="6350">
            <a:solidFill>
              <a:srgbClr val="B85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09928" y="4402836"/>
            <a:ext cx="3291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B85A2C"/>
                </a:solidFill>
              </a:rPr>
              <a:t>down</a:t>
            </a:r>
            <a:endParaRPr lang="en-US" sz="520" dirty="0"/>
          </a:p>
        </p:txBody>
      </p:sp>
      <p:sp>
        <p:nvSpPr>
          <p:cNvPr id="36" name="Text 34"/>
          <p:cNvSpPr/>
          <p:nvPr/>
        </p:nvSpPr>
        <p:spPr>
          <a:xfrm>
            <a:off x="2212848" y="43891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A2C"/>
                </a:solidFill>
              </a:rPr>
              <a:t>−0.128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78992" y="46268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s105*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64208" y="4617720"/>
            <a:ext cx="420624" cy="13716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6350">
            <a:solidFill>
              <a:srgbClr val="1D8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9928" y="4640580"/>
            <a:ext cx="32918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0F5A44"/>
                </a:solidFill>
              </a:rPr>
              <a:t>up</a:t>
            </a:r>
            <a:endParaRPr lang="en-US" sz="520" dirty="0"/>
          </a:p>
        </p:txBody>
      </p:sp>
      <p:sp>
        <p:nvSpPr>
          <p:cNvPr id="40" name="Text 38"/>
          <p:cNvSpPr/>
          <p:nvPr/>
        </p:nvSpPr>
        <p:spPr>
          <a:xfrm>
            <a:off x="2212848" y="46268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</a:rPr>
              <a:t>+1.468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63240" y="4681728"/>
            <a:ext cx="2331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seed 105 baseline is unusually low and drives much of the mean.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20840" y="2834640"/>
            <a:ext cx="4434840" cy="2286000"/>
          </a:xfrm>
          <a:prstGeom prst="roundRect">
            <a:avLst>
              <a:gd name="adj" fmla="val 2400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40880" y="3429000"/>
            <a:ext cx="37033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0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Per-metric deltas are absolute recall percentage-point changes, not relative percent improvements.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Dropping seed 105 gives mean Δ ≈ +0.029.</a:t>
            </a:r>
            <a:endParaRPr lang="en-US" sz="1000" dirty="0"/>
          </a:p>
          <a:p>
            <a:r>
              <a:rPr lang="en-US" sz="10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Retrieval-compatible, not statistically established.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59168" y="4727448"/>
            <a:ext cx="3611880" cy="2560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B85A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23176" y="4777740"/>
            <a:ext cx="3483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say “ReconA improves retrieval” without qualification.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COMPOSITIONAL PROBES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binding evidence is mixed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can be high even when attributes or relations are not correctly bound.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27632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10241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probes matter: retrieval can be high even if a model is weak at binding attributes or relations. ARO and Winoground target this gap more directly.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71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63340" y="3557016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6B6B"/>
                </a:solidFill>
              </a:rPr>
              <a:t>0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3909060" y="3383280"/>
            <a:ext cx="768782" cy="146304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3562" y="335584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5A44"/>
                </a:solidFill>
              </a:rPr>
              <a:t>+0.57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115568" y="335584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Attribution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5568" y="3584448"/>
            <a:ext cx="2011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object-attribute binding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3863340" y="4233672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6B6B"/>
                </a:solidFill>
              </a:rPr>
              <a:t>0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585362" y="4059936"/>
            <a:ext cx="323698" cy="146304"/>
          </a:xfrm>
          <a:prstGeom prst="rect">
            <a:avLst/>
          </a:prstGeom>
          <a:solidFill>
            <a:srgbClr val="B85A2C"/>
          </a:solidFill>
          <a:ln w="12700">
            <a:solidFill>
              <a:srgbClr val="B85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5010" y="40325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B85A2C"/>
                </a:solidFill>
              </a:rPr>
              <a:t>-0.24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115568" y="403250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Relation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15568" y="4261104"/>
            <a:ext cx="21945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object-relation structure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263640" y="2670048"/>
            <a:ext cx="52120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871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WINOGROUND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349740" y="3429000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6B6B"/>
                </a:solidFill>
              </a:rPr>
              <a:t>0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9395460" y="3255264"/>
            <a:ext cx="337185" cy="146304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8365" y="32278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5A44"/>
                </a:solidFill>
              </a:rPr>
              <a:t>+0.25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601968" y="322783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Text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601968" y="3456432"/>
            <a:ext cx="2743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prefers correct caption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9349740" y="3904488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6B6B"/>
                </a:solidFill>
              </a:rPr>
              <a:t>0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9395460" y="3730752"/>
            <a:ext cx="903656" cy="146304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44836" y="370332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5A44"/>
                </a:solidFill>
              </a:rPr>
              <a:t>+0.67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601968" y="37033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Image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601968" y="3931920"/>
            <a:ext cx="27432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prefers correct image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9349740" y="4379976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6B6B"/>
                </a:solidFill>
              </a:rPr>
              <a:t>0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9395460" y="4206240"/>
            <a:ext cx="674370" cy="146304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15550" y="4178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5A44"/>
                </a:solidFill>
              </a:rPr>
              <a:t>+0.50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6601968" y="417880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Group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6601968" y="4407408"/>
            <a:ext cx="18288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checks pass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1371600" y="5285232"/>
            <a:ext cx="9326880" cy="640080"/>
          </a:xfrm>
          <a:prstGeom prst="roundRect">
            <a:avLst>
              <a:gd name="adj" fmla="val 8571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27632" y="5513832"/>
            <a:ext cx="8823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results support the relevance of the diagnostic question, but not a conclusion that binding improved.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ABLATIONS, COST, VARIANT 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enough to be interesting, not free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result is stronger than the performance claim.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27632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OVERHEAD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50976" y="2221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3648.3s → 3680.1s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9264" y="2651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</a:rPr>
              <a:t>+31.8s, about +0.9%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3017520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1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reconstruction head</a:t>
            </a:r>
            <a:endParaRPr lang="en-US" sz="810" dirty="0"/>
          </a:p>
          <a:p>
            <a:r>
              <a:rPr lang="en-US" sz="81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backbone</a:t>
            </a:r>
            <a:endParaRPr lang="en-US" sz="810" dirty="0"/>
          </a:p>
          <a:p>
            <a:r>
              <a:rPr lang="en-US" sz="81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decoder</a:t>
            </a:r>
            <a:endParaRPr lang="en-US" sz="810" dirty="0"/>
          </a:p>
          <a:p>
            <a:r>
              <a:rPr lang="en-US" sz="81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extra dataset</a:t>
            </a:r>
            <a:endParaRPr lang="en-US" sz="810" dirty="0"/>
          </a:p>
          <a:p>
            <a:r>
              <a:rPr lang="en-US" sz="81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retrieval pipeline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526280" y="1627632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SWEEP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00600" y="224028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λ=0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440680" y="2258568"/>
            <a:ext cx="1261059" cy="109728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2402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446.156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800600" y="2624328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λ=0.5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40680" y="2642616"/>
            <a:ext cx="306426" cy="109728"/>
          </a:xfrm>
          <a:prstGeom prst="rect">
            <a:avLst/>
          </a:prstGeom>
          <a:solidFill>
            <a:srgbClr val="B85A2C"/>
          </a:solidFill>
          <a:ln w="12700">
            <a:solidFill>
              <a:srgbClr val="B85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62432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445.508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800600" y="300837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λ=1.0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40680" y="3026664"/>
            <a:ext cx="1160882" cy="109728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00837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446.088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only, not a conclusive sweep.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47888" y="1627632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MASK-RATE CHECK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503920" y="22402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0.15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098280" y="2258568"/>
            <a:ext cx="959336" cy="109728"/>
          </a:xfrm>
          <a:prstGeom prst="rect">
            <a:avLst/>
          </a:prstGeom>
          <a:solidFill>
            <a:srgbClr val="1D8A6A"/>
          </a:solidFill>
          <a:ln w="12700">
            <a:solidFill>
              <a:srgbClr val="1D8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52176" y="22402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446.044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503920" y="262432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0.30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098280" y="2642616"/>
            <a:ext cx="670125" cy="109728"/>
          </a:xfrm>
          <a:prstGeom prst="rect">
            <a:avLst/>
          </a:prstGeom>
          <a:solidFill>
            <a:srgbClr val="B85A2C"/>
          </a:solidFill>
          <a:ln w="12700">
            <a:solidFill>
              <a:srgbClr val="B85A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52176" y="262432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445.880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503920" y="300837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A1A1A"/>
                </a:solidFill>
              </a:rPr>
              <a:t>0.50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098280" y="3026664"/>
            <a:ext cx="324481" cy="109728"/>
          </a:xfrm>
          <a:prstGeom prst="rect">
            <a:avLst/>
          </a:prstGeom>
          <a:solidFill>
            <a:srgbClr val="B85A2C"/>
          </a:solidFill>
          <a:ln w="12700">
            <a:solidFill>
              <a:srgbClr val="B85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52176" y="300837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B6B6B"/>
                </a:solidFill>
              </a:rPr>
              <a:t>445.684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8503920" y="3429000"/>
            <a:ext cx="2560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mask ratios did not help in this seed.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261872" y="4434840"/>
            <a:ext cx="9646920" cy="1152144"/>
          </a:xfrm>
          <a:prstGeom prst="roundRect">
            <a:avLst>
              <a:gd name="adj" fmla="val 4762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645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B / RECONB — EXPLORATORY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508760" y="5010912"/>
            <a:ext cx="795528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445.860  ·  ReconB λ=0.1: 446.052  ·  ReconB λ=0.5: 445.832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508760" y="5285232"/>
            <a:ext cx="8138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B8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narrow to claim improvement. ARO and Winoground were not run for Variant B.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CLAIM LADDER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careful result is still a strong project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contribution is credible because the scope, evidence, and limitations are explicit.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19072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EEF5F1"/>
          </a:solidFill>
          <a:ln w="8255">
            <a:solidFill>
              <a:srgbClr val="1D8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5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 claims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696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COCO-scale SuperCLIP-style baseline implemented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evaluation works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head integrates cleanly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overhead ≈ 0.9%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315968" y="1719072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Tentative evidence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ReconA mean R-sum Δ = +0.317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on 3/5 matched seeds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 is seed-dependent</a:t>
            </a:r>
            <a:endParaRPr lang="en-US" sz="960" dirty="0"/>
          </a:p>
          <a:p>
            <a:r>
              <a:rPr lang="en-US" sz="96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compositional probes are mixed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7936992" y="1719072"/>
            <a:ext cx="3154680" cy="3246120"/>
          </a:xfrm>
          <a:prstGeom prst="roundRect">
            <a:avLst>
              <a:gd name="adj" fmla="val 1739"/>
            </a:avLst>
          </a:prstGeom>
          <a:solidFill>
            <a:srgbClr val="FAF0E8"/>
          </a:solidFill>
          <a:ln w="8255">
            <a:solidFill>
              <a:srgbClr val="B8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5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claim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4788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6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statistically established retrieval gain</a:t>
            </a:r>
            <a:endParaRPr lang="en-US" sz="960" dirty="0"/>
          </a:p>
          <a:p>
            <a:r>
              <a:rPr lang="en-US" sz="96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compositional improvement</a:t>
            </a:r>
            <a:endParaRPr lang="en-US" sz="960" dirty="0"/>
          </a:p>
          <a:p>
            <a:r>
              <a:rPr lang="en-US" sz="96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SuperCLIP-scale reproduction</a:t>
            </a:r>
            <a:endParaRPr lang="en-US" sz="960" dirty="0"/>
          </a:p>
          <a:p>
            <a:r>
              <a:rPr lang="en-US" sz="96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evidence for Variant B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68680" y="5358384"/>
            <a:ext cx="10451592" cy="749808"/>
          </a:xfrm>
          <a:prstGeom prst="roundRect">
            <a:avLst>
              <a:gd name="adj" fmla="val 7317"/>
            </a:avLst>
          </a:prstGeom>
          <a:solidFill>
            <a:srgbClr val="1A1A1A"/>
          </a:solidFill>
          <a:ln w="825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532120"/>
            <a:ext cx="10012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</a:rPr>
              <a:t>Masked caption-token reconstruction is cheap and feasible, and it preserves COCO retrieval performance. But its measured benefit is small, seed-sensitive, and not statistically established. Compositional evidence is mixed, so the result is promising but inconclusive.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/ EVIDENCE LEDGER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evidence ledger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12064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numbers for Q&amp;A; keep the main talk focused on interpretation.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2014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627632"/>
            <a:ext cx="10771632" cy="3785616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8255">
            <a:solidFill>
              <a:srgbClr val="D8D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27632"/>
            <a:ext cx="10771632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1907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Evidence item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547872" y="1719072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Verified value / interpretation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956816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02996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Main retrieval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547872" y="2029968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445.817 → 446.134, Δ +0.317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13232" y="2286000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35915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Seed consistency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547872" y="2359152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3/5 positive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68833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CI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547872" y="2688336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95% CI [−0.534, +1.167]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13232" y="2944368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01752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Drop seed 105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547872" y="3017520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mean Δ +0.029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13232" y="3273552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34670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ARO Attribution / Relation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547872" y="3346704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+0.57 / −0.24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13232" y="3602736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6758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Winoground Text / Image / Group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547872" y="3675888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+0.25 / +0.67 / +0.50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13232" y="3931920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0050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Lambda sweep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547872" y="4005072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λ=0: 446.156 · λ=0.5: 445.508 · λ=1.0: 446.088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13232" y="4261104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433425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Mask-rate sweep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547872" y="4334256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0.15: 446.044 · 0.30: 445.880 · 0.50: 445.684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13232" y="4590288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466344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Variant B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3547872" y="4663440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baseline 445.860 · λ=0.1: 446.052 · λ=0.5: 445.832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13232" y="4919472"/>
            <a:ext cx="10771632" cy="0"/>
          </a:xfrm>
          <a:prstGeom prst="line">
            <a:avLst/>
          </a:prstGeom>
          <a:noFill/>
          <a:ln w="5715">
            <a:solidFill>
              <a:srgbClr val="D8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499262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1A1A"/>
                </a:solidFill>
              </a:rPr>
              <a:t>Runtime overhead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547872" y="4992624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3A3A3A"/>
                </a:solidFill>
              </a:rPr>
              <a:t>3648.3s → 3680.1s · +31.8s · about +0.9%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31520" y="6355080"/>
            <a:ext cx="10012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used for framing: CLIP; SuperCLIP; ARO/Bags-of-Words; Winoground; MS-COCO. Project evidence: current deck, revised poster, repo implementation, and result summaries available in the connected repository.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11320272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Bocconi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SuperCLIP-Recon Revised Presentation</dc:title>
  <dc:subject>SuperCLIP-Recon revised course project presentation</dc:subject>
  <dc:creator>OpenAI</dc:creator>
  <cp:lastModifiedBy>OpenAI</cp:lastModifiedBy>
  <cp:revision>1</cp:revision>
  <dcterms:created xsi:type="dcterms:W3CDTF">2026-05-08T14:30:25Z</dcterms:created>
  <dcterms:modified xsi:type="dcterms:W3CDTF">2026-05-08T14:30:25Z</dcterms:modified>
</cp:coreProperties>
</file>